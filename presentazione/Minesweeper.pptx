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1"/>
  </p:notesMasterIdLst>
  <p:sldIdLst>
    <p:sldId id="256" r:id="rId2"/>
    <p:sldId id="259" r:id="rId3"/>
    <p:sldId id="262" r:id="rId4"/>
    <p:sldId id="297" r:id="rId5"/>
    <p:sldId id="298" r:id="rId6"/>
    <p:sldId id="263" r:id="rId7"/>
    <p:sldId id="299" r:id="rId8"/>
    <p:sldId id="300" r:id="rId9"/>
    <p:sldId id="264" r:id="rId10"/>
  </p:sldIdLst>
  <p:sldSz cx="9144000" cy="5143500" type="screen16x9"/>
  <p:notesSz cx="6858000" cy="9144000"/>
  <p:embeddedFontLst>
    <p:embeddedFont>
      <p:font typeface="Epilogue" panose="020B0604020202020204" charset="0"/>
      <p:regular r:id="rId12"/>
      <p:bold r:id="rId13"/>
      <p:italic r:id="rId14"/>
      <p:boldItalic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Nunito Light" pitchFamily="2" charset="0"/>
      <p:regular r:id="rId20"/>
      <p:italic r:id="rId21"/>
    </p:embeddedFont>
    <p:embeddedFont>
      <p:font typeface="Raleway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E35E13-A39B-48A5-8986-C7CB44DC159E}">
  <a:tblStyle styleId="{FAE35E13-A39B-48A5-8986-C7CB44DC1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6699BD7-AA78-46ED-8191-094A0AEC90C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ABDD0CC9-5A01-26F7-D4BD-6ACC964B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93C9683B-742F-03A0-3AD9-33964EA45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5EA28BD0-8D7C-F182-9534-526EFCB0C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8166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57E0F4FC-075F-D2FA-92BD-5A63CBBE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AA232548-D43F-B3B9-E92F-F9F9284EB8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CFE5B6BA-A57A-DF47-35E0-2488C139A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9019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D475F140-C0ED-AE8D-9DE1-37F8A2F98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>
            <a:extLst>
              <a:ext uri="{FF2B5EF4-FFF2-40B4-BE49-F238E27FC236}">
                <a16:creationId xmlns:a16="http://schemas.microsoft.com/office/drawing/2014/main" id="{8D1F7A48-0447-AA82-537A-8DA08C171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>
            <a:extLst>
              <a:ext uri="{FF2B5EF4-FFF2-40B4-BE49-F238E27FC236}">
                <a16:creationId xmlns:a16="http://schemas.microsoft.com/office/drawing/2014/main" id="{F91C163E-BE04-D5DA-9858-B828825F95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1126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15CEBD9B-4FD2-6F24-0596-28B2D93E9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A82185D6-546F-296E-270D-19131FA11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7D99FD77-A9DB-D35D-8064-17D8B94B8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630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1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2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3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4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6"/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6"/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6"/>
          <p:cNvSpPr txBox="1">
            <a:spLocks noGrp="1"/>
          </p:cNvSpPr>
          <p:nvPr>
            <p:ph type="subTitle" idx="3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6"/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1" name="Google Shape;401;p16"/>
          <p:cNvSpPr txBox="1">
            <a:spLocks noGrp="1"/>
          </p:cNvSpPr>
          <p:nvPr>
            <p:ph type="subTitle" idx="5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6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3" name="Google Shape;403;p16"/>
          <p:cNvSpPr/>
          <p:nvPr/>
        </p:nvSpPr>
        <p:spPr>
          <a:xfrm rot="8800738" flipH="1">
            <a:off x="7902412" y="4181666"/>
            <a:ext cx="1680262" cy="1358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6"/>
          <p:cNvSpPr/>
          <p:nvPr/>
        </p:nvSpPr>
        <p:spPr>
          <a:xfrm rot="-8942362" flipH="1">
            <a:off x="-983149" y="4040244"/>
            <a:ext cx="2474148" cy="2000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"/>
          <p:cNvSpPr/>
          <p:nvPr/>
        </p:nvSpPr>
        <p:spPr>
          <a:xfrm rot="1554271" flipH="1">
            <a:off x="7563507" y="-664049"/>
            <a:ext cx="2112334" cy="200257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17"/>
          <p:cNvSpPr txBox="1">
            <a:spLocks noGrp="1"/>
          </p:cNvSpPr>
          <p:nvPr>
            <p:ph type="subTitle" idx="1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17"/>
          <p:cNvSpPr txBox="1">
            <a:spLocks noGrp="1"/>
          </p:cNvSpPr>
          <p:nvPr>
            <p:ph type="subTitle" idx="2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17"/>
          <p:cNvSpPr txBox="1">
            <a:spLocks noGrp="1"/>
          </p:cNvSpPr>
          <p:nvPr>
            <p:ph type="subTitle" idx="3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7"/>
          <p:cNvSpPr txBox="1">
            <a:spLocks noGrp="1"/>
          </p:cNvSpPr>
          <p:nvPr>
            <p:ph type="subTitle" idx="4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17"/>
          <p:cNvSpPr txBox="1">
            <a:spLocks noGrp="1"/>
          </p:cNvSpPr>
          <p:nvPr>
            <p:ph type="subTitle" idx="5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6" name="Google Shape;506;p17"/>
          <p:cNvSpPr txBox="1">
            <a:spLocks noGrp="1"/>
          </p:cNvSpPr>
          <p:nvPr>
            <p:ph type="subTitle" idx="6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7" name="Google Shape;507;p17"/>
          <p:cNvSpPr txBox="1">
            <a:spLocks noGrp="1"/>
          </p:cNvSpPr>
          <p:nvPr>
            <p:ph type="subTitle" idx="7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8" name="Google Shape;508;p17"/>
          <p:cNvSpPr txBox="1">
            <a:spLocks noGrp="1"/>
          </p:cNvSpPr>
          <p:nvPr>
            <p:ph type="subTitle" idx="8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9" name="Google Shape;509;p17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7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1" name="Google Shape;511;p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512" name="Google Shape;512;p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1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518" name="Google Shape;518;p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" name="Google Shape;520;p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21" name="Google Shape;521;p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4" name="Google Shape;524;p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5" name="Google Shape;525;p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28" name="Google Shape;528;p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31" name="Google Shape;531;p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34" name="Google Shape;534;p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0" r:id="rId8"/>
    <p:sldLayoutId id="2147483662" r:id="rId9"/>
    <p:sldLayoutId id="2147483663" r:id="rId10"/>
    <p:sldLayoutId id="2147483669" r:id="rId11"/>
    <p:sldLayoutId id="214748367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pxhere.com/es/photo/1431115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4909608" y="421118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it-IT" dirty="0"/>
              <a:t>Campo Minato in JavaScript</a:t>
            </a:r>
            <a:endParaRPr dirty="0"/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Confronto tra sviluppo manuale e sviluppo con supporto di Intelligenza Artificiale</a:t>
            </a:r>
            <a:endParaRPr dirty="0"/>
          </a:p>
        </p:txBody>
      </p:sp>
      <p:grpSp>
        <p:nvGrpSpPr>
          <p:cNvPr id="757" name="Google Shape;757;p28"/>
          <p:cNvGrpSpPr/>
          <p:nvPr/>
        </p:nvGrpSpPr>
        <p:grpSpPr>
          <a:xfrm>
            <a:off x="5165167" y="656304"/>
            <a:ext cx="3841017" cy="3831227"/>
            <a:chOff x="5165167" y="656304"/>
            <a:chExt cx="3841017" cy="3831227"/>
          </a:xfrm>
        </p:grpSpPr>
        <p:grpSp>
          <p:nvGrpSpPr>
            <p:cNvPr id="758" name="Google Shape;758;p28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9" name="Google Shape;759;p28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60" name="Google Shape;760;p28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4" name="Google Shape;764;p28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8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8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28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8" name="Google Shape;768;p28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28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71" name="Google Shape;771;p28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28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4" name="Google Shape;774;p28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75" name="Google Shape;775;p28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28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9" name="Google Shape;779;p28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28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83" name="Google Shape;783;p28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28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6" name="Google Shape;786;p28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8" name="Google Shape;788;p28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9" name="Google Shape;789;p28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8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95" name="Google Shape;795;p28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28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801" name="Google Shape;801;p28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8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8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8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8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8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28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8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28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25" name="Google Shape;825;p28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8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8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8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8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8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8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8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8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8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7" name="Google Shape;837;p28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8"/>
            <p:cNvGrpSpPr/>
            <p:nvPr/>
          </p:nvGrpSpPr>
          <p:grpSpPr>
            <a:xfrm>
              <a:off x="6367914" y="2012818"/>
              <a:ext cx="1448168" cy="1250722"/>
              <a:chOff x="6497466" y="2113795"/>
              <a:chExt cx="1186439" cy="1024678"/>
            </a:xfrm>
          </p:grpSpPr>
          <p:sp>
            <p:nvSpPr>
              <p:cNvPr id="839" name="Google Shape;839;p28"/>
              <p:cNvSpPr/>
              <p:nvPr/>
            </p:nvSpPr>
            <p:spPr>
              <a:xfrm>
                <a:off x="6497466" y="2113795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42" name="Google Shape;842;p28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8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8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5" name="Google Shape;845;p28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1" name="Google Shape;851;p28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52" name="Google Shape;852;p28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8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4" name="Google Shape;854;p28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55" name="Google Shape;855;p28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8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28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8" name="Google Shape;858;p28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8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8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8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8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3" name="Google Shape;863;p28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8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65" name="Google Shape;865;p28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6" name="Google Shape;866;p28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8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8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8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0" name="Google Shape;870;p28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71" name="Google Shape;871;p28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72" name="Google Shape;872;p28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28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8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" name="Google Shape;875;p28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6" name="Google Shape;876;p28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7" name="Google Shape;877;p28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8" name="Google Shape;878;p28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9" name="Google Shape;879;p28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" name="Google Shape;880;p28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1" name="Google Shape;881;p28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82" name="Google Shape;882;p28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83" name="Google Shape;883;p28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84" name="Google Shape;884;p28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885;p28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6" name="Google Shape;886;p28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887;p28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8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9" name="Google Shape;889;p28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90" name="Google Shape;890;p28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8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8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93" name="Google Shape;893;p28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8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7" name="Google Shape;897;p28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8" name="Google Shape;898;p28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9" name="Google Shape;899;p28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900" name="Google Shape;900;p28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" name="Google Shape;901;p28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3" name="Google Shape;903;p28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904" name="Google Shape;904;p28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8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8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7" name="Google Shape;907;p28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8" name="Google Shape;908;p28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9" name="Google Shape;909;p28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8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" name="Google Shape;911;p28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2" name="Google Shape;912;p28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13" name="Google Shape;913;p28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14" name="Google Shape;914;p28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15" name="Google Shape;915;p28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28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7" name="Google Shape;917;p28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8" name="Google Shape;918;p28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9" name="Google Shape;919;p28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20" name="Google Shape;920;p28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21" name="Google Shape;921;p28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8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8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8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8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6" name="Google Shape;926;p28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7" name="Google Shape;927;p28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8" name="Google Shape;928;p28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28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28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28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28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33" name="Google Shape;933;p28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8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35" name="Google Shape;935;p28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3238964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it-IT" dirty="0"/>
              <a:t>OBIETTIVO DEL PROGETTO</a:t>
            </a:r>
            <a:endParaRPr dirty="0"/>
          </a:p>
        </p:txBody>
      </p:sp>
      <p:sp>
        <p:nvSpPr>
          <p:cNvPr id="968" name="Google Shape;968;p31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it-IT" dirty="0"/>
              <a:t>Realizzare il gioco Campo Minato in JavaScript senza usare librerie esterne.</a:t>
            </a:r>
          </a:p>
          <a:p>
            <a:pPr marL="0" lvl="0" indent="0">
              <a:buNone/>
            </a:pPr>
            <a:endParaRPr lang="it-IT" dirty="0"/>
          </a:p>
          <a:p>
            <a:pPr marL="0" lvl="0" indent="0">
              <a:buNone/>
            </a:pPr>
            <a:r>
              <a:rPr lang="it-IT" dirty="0"/>
              <a:t>Confrontare due metodi di sviluppo:</a:t>
            </a:r>
          </a:p>
          <a:p>
            <a:pPr marL="171450" lvl="0" indent="-171450">
              <a:buFont typeface="Courier New" panose="02070309020205020404" pitchFamily="49" charset="0"/>
              <a:buChar char="o"/>
            </a:pPr>
            <a:r>
              <a:rPr lang="it-IT" dirty="0"/>
              <a:t>Sviluppo manuale</a:t>
            </a:r>
          </a:p>
          <a:p>
            <a:pPr marL="171450" lvl="0" indent="-171450">
              <a:buFont typeface="Courier New" panose="02070309020205020404" pitchFamily="49" charset="0"/>
              <a:buChar char="o"/>
            </a:pPr>
            <a:r>
              <a:rPr lang="it-IT" dirty="0"/>
              <a:t>Sviluppo con supporto di Intelligenza Artificiale</a:t>
            </a:r>
            <a:endParaRPr lang="it-IT" sz="1100" dirty="0"/>
          </a:p>
        </p:txBody>
      </p:sp>
      <p:pic>
        <p:nvPicPr>
          <p:cNvPr id="969" name="Google Shape;969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432" r="37002" b="10007"/>
          <a:stretch/>
        </p:blipFill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970" name="Google Shape;970;p31"/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/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/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/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/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/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/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/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/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/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/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/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/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/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/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/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/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/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/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/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/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/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/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/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1010" name="Google Shape;1010;p31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34"/>
          <p:cNvSpPr txBox="1">
            <a:spLocks noGrp="1"/>
          </p:cNvSpPr>
          <p:nvPr>
            <p:ph type="subTitle" idx="4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Studente 2</a:t>
            </a:r>
            <a:endParaRPr dirty="0"/>
          </a:p>
        </p:txBody>
      </p:sp>
      <p:sp>
        <p:nvSpPr>
          <p:cNvPr id="1110" name="Google Shape;111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ORGANIZZAZIONE DEL LAVORO</a:t>
            </a:r>
            <a:br>
              <a:rPr lang="it-IT" dirty="0"/>
            </a:br>
            <a:endParaRPr dirty="0"/>
          </a:p>
        </p:txBody>
      </p:sp>
      <p:sp>
        <p:nvSpPr>
          <p:cNvPr id="1111" name="Google Shape;1111;p34"/>
          <p:cNvSpPr txBox="1">
            <a:spLocks noGrp="1"/>
          </p:cNvSpPr>
          <p:nvPr>
            <p:ph type="subTitle" idx="1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Sviluppo dello stesso gioco con supporto di un modello di Intelligenza Artificiale per la scrittura di funzioni</a:t>
            </a:r>
            <a:endParaRPr dirty="0"/>
          </a:p>
        </p:txBody>
      </p:sp>
      <p:sp>
        <p:nvSpPr>
          <p:cNvPr id="1112" name="Google Shape;1112;p34"/>
          <p:cNvSpPr txBox="1">
            <a:spLocks noGrp="1"/>
          </p:cNvSpPr>
          <p:nvPr>
            <p:ph type="subTitle" idx="2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Sviluppo completo del gioco scrivendo tutto il codice a mano, senza utilizzo dell’intelligenza artificiale nemmeno per cercare funzioni o selettori</a:t>
            </a:r>
            <a:br>
              <a:rPr lang="it-IT" dirty="0"/>
            </a:br>
            <a:endParaRPr dirty="0"/>
          </a:p>
        </p:txBody>
      </p:sp>
      <p:sp>
        <p:nvSpPr>
          <p:cNvPr id="1113" name="Google Shape;1113;p34"/>
          <p:cNvSpPr txBox="1">
            <a:spLocks noGrp="1"/>
          </p:cNvSpPr>
          <p:nvPr>
            <p:ph type="subTitle" idx="3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Studente 1</a:t>
            </a:r>
            <a:endParaRPr dirty="0"/>
          </a:p>
        </p:txBody>
      </p:sp>
      <p:grpSp>
        <p:nvGrpSpPr>
          <p:cNvPr id="1114" name="Google Shape;1114;p34"/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Google Shape;1135;p35">
            <a:extLst>
              <a:ext uri="{FF2B5EF4-FFF2-40B4-BE49-F238E27FC236}">
                <a16:creationId xmlns:a16="http://schemas.microsoft.com/office/drawing/2014/main" id="{B6CBEB21-FEEE-E280-89B5-120FEE14F019}"/>
              </a:ext>
            </a:extLst>
          </p:cNvPr>
          <p:cNvSpPr txBox="1">
            <a:spLocks/>
          </p:cNvSpPr>
          <p:nvPr/>
        </p:nvSpPr>
        <p:spPr>
          <a:xfrm>
            <a:off x="779675" y="714752"/>
            <a:ext cx="5531005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1400" dirty="0"/>
              <a:t>Ogni gioco è stato sviluppato da una coppia di studenti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07D85E95-AE69-4F8B-4DC2-50A0E9F3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9D38C929-52A2-EF03-719D-91F09E7105B6}"/>
              </a:ext>
            </a:extLst>
          </p:cNvPr>
          <p:cNvSpPr/>
          <p:nvPr/>
        </p:nvSpPr>
        <p:spPr>
          <a:xfrm rot="4500170">
            <a:off x="284294" y="15021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F4133A29-7E50-546E-3794-73E8108A37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10882" y="816958"/>
            <a:ext cx="3997918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it-IT" dirty="0"/>
              <a:t>METODO 1: SVILUPPO MANUALE</a:t>
            </a:r>
            <a:endParaRPr dirty="0"/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57DDD59C-C548-44BD-CF3E-9D0224571D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10882" y="1823758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it-IT" dirty="0"/>
              <a:t>Il gioco è stato progettato e programmato interamente a mano</a:t>
            </a:r>
          </a:p>
          <a:p>
            <a:pPr marL="0" lvl="0" indent="0">
              <a:buNone/>
            </a:pPr>
            <a:endParaRPr lang="it-IT" dirty="0"/>
          </a:p>
          <a:p>
            <a:pPr marL="152400" lvl="0" indent="0">
              <a:buNone/>
            </a:pPr>
            <a:r>
              <a:rPr lang="it-IT" dirty="0"/>
              <a:t>Tutta la logica è stata scritta senza aiuti automatici: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it-IT" dirty="0"/>
              <a:t>Creazione della griglia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it-IT" dirty="0"/>
              <a:t>Gestione delle mine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it-IT" dirty="0"/>
              <a:t>Calcolo dei numeri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it-IT" dirty="0"/>
              <a:t>Gestione del click e del tasto destro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it-IT" dirty="0"/>
              <a:t>Controllo vittoria e sconfitta</a:t>
            </a:r>
            <a:br>
              <a:rPr lang="it-IT" dirty="0"/>
            </a:br>
            <a:endParaRPr lang="it-IT" sz="1100" dirty="0"/>
          </a:p>
        </p:txBody>
      </p:sp>
      <p:pic>
        <p:nvPicPr>
          <p:cNvPr id="969" name="Google Shape;969;p31">
            <a:extLst>
              <a:ext uri="{FF2B5EF4-FFF2-40B4-BE49-F238E27FC236}">
                <a16:creationId xmlns:a16="http://schemas.microsoft.com/office/drawing/2014/main" id="{3F698CB9-77A5-C6C4-9469-8026341AB0A5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6732" r="16732"/>
          <a:stretch/>
        </p:blipFill>
        <p:spPr>
          <a:xfrm>
            <a:off x="1324984" y="1071634"/>
            <a:ext cx="2990400" cy="2990400"/>
          </a:xfrm>
          <a:prstGeom prst="roundRect">
            <a:avLst>
              <a:gd name="adj" fmla="val 16667"/>
            </a:avLst>
          </a:prstGeom>
        </p:spPr>
      </p:pic>
    </p:spTree>
    <p:extLst>
      <p:ext uri="{BB962C8B-B14F-4D97-AF65-F5344CB8AC3E}">
        <p14:creationId xmlns:p14="http://schemas.microsoft.com/office/powerpoint/2010/main" val="404345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D87660C9-934C-9BB2-DCA0-23114A59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67B80F91-B95A-2DC9-B95B-5E5D3ED6966F}"/>
              </a:ext>
            </a:extLst>
          </p:cNvPr>
          <p:cNvSpPr/>
          <p:nvPr/>
        </p:nvSpPr>
        <p:spPr>
          <a:xfrm rot="4500170">
            <a:off x="3622225" y="138115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F3E61682-2CC2-322D-6B0D-3C39F5214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5653" y="891300"/>
            <a:ext cx="521107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t-IT" dirty="0"/>
              <a:t>METODO 2: SVILUPPO CON SUPPORTO DELL’AI</a:t>
            </a:r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1EE230A1-3EA3-8212-9585-32F84A6DF0A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85653" y="18981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>
              <a:buNone/>
            </a:pPr>
            <a:r>
              <a:rPr lang="it-IT" dirty="0"/>
              <a:t>Lo studente utilizza l’IA come: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it-IT" dirty="0"/>
              <a:t>Aiuto per scrivere funzioni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it-IT" dirty="0"/>
              <a:t>Supporto per correggere errori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it-IT" dirty="0"/>
              <a:t>Spiegazione di parti di codice difficili</a:t>
            </a:r>
          </a:p>
          <a:p>
            <a:pPr lvl="0">
              <a:buFont typeface="Courier New" panose="02070309020205020404" pitchFamily="49" charset="0"/>
              <a:buChar char="o"/>
            </a:pPr>
            <a:endParaRPr lang="it-IT" dirty="0"/>
          </a:p>
          <a:p>
            <a:pPr lvl="0">
              <a:buFont typeface="Courier New" panose="02070309020205020404" pitchFamily="49" charset="0"/>
              <a:buChar char="o"/>
            </a:pPr>
            <a:endParaRPr lang="it-IT" dirty="0"/>
          </a:p>
          <a:p>
            <a:pPr lvl="0">
              <a:buFont typeface="Courier New" panose="02070309020205020404" pitchFamily="49" charset="0"/>
              <a:buChar char="o"/>
            </a:pPr>
            <a:endParaRPr lang="it-IT" dirty="0"/>
          </a:p>
          <a:p>
            <a:pPr marL="152400" lvl="0" indent="0">
              <a:buNone/>
            </a:pPr>
            <a:r>
              <a:rPr lang="it-IT" dirty="0"/>
              <a:t>Il codice non viene copiato alla cieca, ma capito e adattato</a:t>
            </a:r>
            <a:br>
              <a:rPr lang="it-IT" dirty="0"/>
            </a:br>
            <a:endParaRPr lang="it-IT" sz="1100" dirty="0"/>
          </a:p>
          <a:p>
            <a:pPr marL="152400" lvl="0" indent="0">
              <a:buNone/>
            </a:pPr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3787681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486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Analisi comparativa dei due progetti</a:t>
            </a:r>
            <a:endParaRPr dirty="0"/>
          </a:p>
        </p:txBody>
      </p:sp>
      <p:sp>
        <p:nvSpPr>
          <p:cNvPr id="1135" name="Google Shape;1135;p35"/>
          <p:cNvSpPr txBox="1">
            <a:spLocks noGrp="1"/>
          </p:cNvSpPr>
          <p:nvPr>
            <p:ph type="subTitle" idx="4"/>
          </p:nvPr>
        </p:nvSpPr>
        <p:spPr>
          <a:xfrm>
            <a:off x="720000" y="871214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dirty="0"/>
              <a:t>Progetto AI</a:t>
            </a:r>
            <a:endParaRPr dirty="0"/>
          </a:p>
        </p:txBody>
      </p:sp>
      <p:sp>
        <p:nvSpPr>
          <p:cNvPr id="1137" name="Google Shape;1137;p35"/>
          <p:cNvSpPr txBox="1">
            <a:spLocks noGrp="1"/>
          </p:cNvSpPr>
          <p:nvPr>
            <p:ph type="subTitle" idx="1"/>
          </p:nvPr>
        </p:nvSpPr>
        <p:spPr>
          <a:xfrm>
            <a:off x="430068" y="1635135"/>
            <a:ext cx="2608463" cy="1873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b="1" dirty="0">
                <a:latin typeface="Raleway" pitchFamily="2" charset="0"/>
              </a:rPr>
              <a:t>Struttura dati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Utilizza un array monodimensionale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Ogni cella è un oggetto con proprietà: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Bomba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Scoperta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Bandiera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Approccio più compatto</a:t>
            </a:r>
          </a:p>
        </p:txBody>
      </p:sp>
      <p:sp>
        <p:nvSpPr>
          <p:cNvPr id="10" name="Google Shape;1137;p35">
            <a:extLst>
              <a:ext uri="{FF2B5EF4-FFF2-40B4-BE49-F238E27FC236}">
                <a16:creationId xmlns:a16="http://schemas.microsoft.com/office/drawing/2014/main" id="{7FD295A1-CF97-E43A-82DC-6DA7961D05D3}"/>
              </a:ext>
            </a:extLst>
          </p:cNvPr>
          <p:cNvSpPr txBox="1">
            <a:spLocks/>
          </p:cNvSpPr>
          <p:nvPr/>
        </p:nvSpPr>
        <p:spPr>
          <a:xfrm>
            <a:off x="3267769" y="1635135"/>
            <a:ext cx="2608463" cy="187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it-IT" b="1" dirty="0">
                <a:latin typeface="Raleway" pitchFamily="2" charset="0"/>
              </a:rPr>
              <a:t>Algoritmi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mine: posizionamento casuale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Calcolo del vicinato: funzione dedicata che gestisce automaticamente i bordi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Rivelazione ricorsiva: le celle vuote rivelano automaticamente le adiacenti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Condizione di vittoria: confronto tra celle scoperte e celle totali non-mina</a:t>
            </a:r>
          </a:p>
          <a:p>
            <a:pPr>
              <a:buFont typeface="Courier New" panose="02070309020205020404" pitchFamily="49" charset="0"/>
              <a:buChar char="o"/>
            </a:pPr>
            <a:endParaRPr lang="it-IT" dirty="0"/>
          </a:p>
        </p:txBody>
      </p:sp>
      <p:sp>
        <p:nvSpPr>
          <p:cNvPr id="12" name="Google Shape;1137;p35">
            <a:extLst>
              <a:ext uri="{FF2B5EF4-FFF2-40B4-BE49-F238E27FC236}">
                <a16:creationId xmlns:a16="http://schemas.microsoft.com/office/drawing/2014/main" id="{DE218F39-26A9-81D6-3576-4067FCEE39B6}"/>
              </a:ext>
            </a:extLst>
          </p:cNvPr>
          <p:cNvSpPr txBox="1">
            <a:spLocks/>
          </p:cNvSpPr>
          <p:nvPr/>
        </p:nvSpPr>
        <p:spPr>
          <a:xfrm>
            <a:off x="6105469" y="1634758"/>
            <a:ext cx="2608463" cy="187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it-IT" b="1" dirty="0">
                <a:latin typeface="Raleway" pitchFamily="2" charset="0"/>
              </a:rPr>
              <a:t>UI / UX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Layout realizzato con CSS </a:t>
            </a:r>
            <a:r>
              <a:rPr lang="it-IT" dirty="0" err="1"/>
              <a:t>Grid</a:t>
            </a:r>
            <a:endParaRPr lang="it-IT" dirty="0"/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Overlay finale per vittoria o sconfitta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3 livelli di difficoltà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Uso di emoji Unicode (🚩 💣) per una grafica semplice e immediata</a:t>
            </a:r>
          </a:p>
          <a:p>
            <a:pPr>
              <a:buFont typeface="Courier New" panose="02070309020205020404" pitchFamily="49" charset="0"/>
              <a:buChar char="o"/>
            </a:pPr>
            <a:endParaRPr lang="it-IT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EBD50CF6-134E-8126-F6ED-06EE3058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>
            <a:extLst>
              <a:ext uri="{FF2B5EF4-FFF2-40B4-BE49-F238E27FC236}">
                <a16:creationId xmlns:a16="http://schemas.microsoft.com/office/drawing/2014/main" id="{7D71BE17-334A-19E4-10A5-749B69311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486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Analisi comparativa dei due progetti</a:t>
            </a:r>
            <a:endParaRPr dirty="0"/>
          </a:p>
        </p:txBody>
      </p:sp>
      <p:sp>
        <p:nvSpPr>
          <p:cNvPr id="1135" name="Google Shape;1135;p35">
            <a:extLst>
              <a:ext uri="{FF2B5EF4-FFF2-40B4-BE49-F238E27FC236}">
                <a16:creationId xmlns:a16="http://schemas.microsoft.com/office/drawing/2014/main" id="{6F5BFAF4-BD7E-AB96-4C0B-505F71AB8B7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20000" y="871214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dirty="0"/>
              <a:t>Progetto senza AI</a:t>
            </a:r>
            <a:endParaRPr dirty="0"/>
          </a:p>
        </p:txBody>
      </p:sp>
      <p:sp>
        <p:nvSpPr>
          <p:cNvPr id="1137" name="Google Shape;1137;p35">
            <a:extLst>
              <a:ext uri="{FF2B5EF4-FFF2-40B4-BE49-F238E27FC236}">
                <a16:creationId xmlns:a16="http://schemas.microsoft.com/office/drawing/2014/main" id="{0833CE19-6DF3-09D9-8418-62D2DFFF818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0068" y="1635135"/>
            <a:ext cx="2608463" cy="1873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b="1" dirty="0">
                <a:latin typeface="Raleway" pitchFamily="2" charset="0"/>
              </a:rPr>
              <a:t>Struttura dati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Uso di array bidimensionali separati, uno per ogni aspetto: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 err="1"/>
              <a:t>grid</a:t>
            </a:r>
            <a:r>
              <a:rPr lang="it-IT" dirty="0"/>
              <a:t>[][] → numeri delle celle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 err="1"/>
              <a:t>minesGrid</a:t>
            </a:r>
            <a:r>
              <a:rPr lang="it-IT" dirty="0"/>
              <a:t>[][] → posizione delle mine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 err="1"/>
              <a:t>revealed</a:t>
            </a:r>
            <a:r>
              <a:rPr lang="it-IT" dirty="0"/>
              <a:t>[][] → celle scoperte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 err="1"/>
              <a:t>flagged</a:t>
            </a:r>
            <a:r>
              <a:rPr lang="it-IT" dirty="0"/>
              <a:t>[][] → bandiere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dirty="0"/>
              <a:t>Approccio procedurale e classico</a:t>
            </a:r>
          </a:p>
        </p:txBody>
      </p:sp>
      <p:sp>
        <p:nvSpPr>
          <p:cNvPr id="10" name="Google Shape;1137;p35">
            <a:extLst>
              <a:ext uri="{FF2B5EF4-FFF2-40B4-BE49-F238E27FC236}">
                <a16:creationId xmlns:a16="http://schemas.microsoft.com/office/drawing/2014/main" id="{065B0799-D923-D16C-B85E-7D23B311049E}"/>
              </a:ext>
            </a:extLst>
          </p:cNvPr>
          <p:cNvSpPr txBox="1">
            <a:spLocks/>
          </p:cNvSpPr>
          <p:nvPr/>
        </p:nvSpPr>
        <p:spPr>
          <a:xfrm>
            <a:off x="3267769" y="1635135"/>
            <a:ext cx="2608463" cy="187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it-IT" b="1" dirty="0">
                <a:latin typeface="Raleway" pitchFamily="2" charset="0"/>
              </a:rPr>
              <a:t>Algoritmi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Prima mossa sicura: le mine vengono piazzate solo dopo il primo click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Generazione mine con esclusione della cella iniziale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Rivelazione con controlli sui limiti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Vittoria quando tutte le celle non-mina sono rivelate</a:t>
            </a:r>
          </a:p>
          <a:p>
            <a:pPr>
              <a:buFont typeface="Courier New" panose="02070309020205020404" pitchFamily="49" charset="0"/>
              <a:buChar char="o"/>
            </a:pPr>
            <a:endParaRPr lang="it-IT" dirty="0"/>
          </a:p>
        </p:txBody>
      </p:sp>
      <p:sp>
        <p:nvSpPr>
          <p:cNvPr id="12" name="Google Shape;1137;p35">
            <a:extLst>
              <a:ext uri="{FF2B5EF4-FFF2-40B4-BE49-F238E27FC236}">
                <a16:creationId xmlns:a16="http://schemas.microsoft.com/office/drawing/2014/main" id="{78FF646B-C4F0-ED29-96B4-8D6E7E56E9D1}"/>
              </a:ext>
            </a:extLst>
          </p:cNvPr>
          <p:cNvSpPr txBox="1">
            <a:spLocks/>
          </p:cNvSpPr>
          <p:nvPr/>
        </p:nvSpPr>
        <p:spPr>
          <a:xfrm>
            <a:off x="6105469" y="1634758"/>
            <a:ext cx="2608463" cy="187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it-IT" b="1" dirty="0">
                <a:latin typeface="Raleway" pitchFamily="2" charset="0"/>
              </a:rPr>
              <a:t>UI / UX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Struttura basata su tabella HTML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Celle ridimensionabili (20px / 30px)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4 livelli di difficoltà, inclusa modalità personalizzata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Risorse grafiche PNG (bombe, bandiere, sfondo)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Overlay post-game avanzato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Titolo nascosto automaticamente per griglie molto grandi</a:t>
            </a:r>
          </a:p>
          <a:p>
            <a:pPr>
              <a:buFont typeface="Courier New" panose="02070309020205020404" pitchFamily="49" charset="0"/>
              <a:buChar char="o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22947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AA89A685-2382-0C27-7856-328A3DF23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D5AD0570-2700-688B-FE9F-F03D69BDD4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5653" y="891300"/>
            <a:ext cx="521107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t-IT" dirty="0"/>
              <a:t>Differenze principali nei metodi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D8531B45-1540-F0A8-0D56-7E858EABE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715815"/>
              </p:ext>
            </p:extLst>
          </p:nvPr>
        </p:nvGraphicFramePr>
        <p:xfrm>
          <a:off x="765717" y="1898100"/>
          <a:ext cx="7747271" cy="2438400"/>
        </p:xfrm>
        <a:graphic>
          <a:graphicData uri="http://schemas.openxmlformats.org/drawingml/2006/table">
            <a:tbl>
              <a:tblPr>
                <a:tableStyleId>{B6699BD7-AA78-46ED-8191-094A0AEC90C4}</a:tableStyleId>
              </a:tblPr>
              <a:tblGrid>
                <a:gridCol w="2601655">
                  <a:extLst>
                    <a:ext uri="{9D8B030D-6E8A-4147-A177-3AD203B41FA5}">
                      <a16:colId xmlns:a16="http://schemas.microsoft.com/office/drawing/2014/main" val="1264859766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1277658454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7383192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it-IT" dirty="0"/>
                    </a:p>
                  </a:txBody>
                  <a:tcPr anchor="ctr">
                    <a:lnL w="190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90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AI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Non AI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389675"/>
                  </a:ext>
                </a:extLst>
              </a:tr>
              <a:tr h="272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Struttura dati</a:t>
                      </a:r>
                      <a:endParaRPr lang="it-IT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Array 1D con oggetti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Più array 2D separati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479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Prima mossa</a:t>
                      </a:r>
                      <a:endParaRPr lang="it-IT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Può essere una bomba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Sempre sicura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320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Rendering</a:t>
                      </a:r>
                      <a:endParaRPr lang="it-IT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CSS </a:t>
                      </a:r>
                      <a:r>
                        <a:rPr lang="it-IT" dirty="0" err="1"/>
                        <a:t>Grid</a:t>
                      </a:r>
                      <a:endParaRPr lang="it-IT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Tabella HTML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775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Risorse grafiche</a:t>
                      </a:r>
                      <a:endParaRPr lang="it-IT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Emoji Unicode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Immagini PNG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63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Configurazione</a:t>
                      </a:r>
                      <a:endParaRPr lang="it-IT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3 livelli fissi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4 livelli + personalizzato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3002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Post-game</a:t>
                      </a:r>
                      <a:endParaRPr lang="it-IT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Overlay semplice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Modalità “rivedi partita”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537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Codice</a:t>
                      </a:r>
                      <a:endParaRPr lang="it-IT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Più compatto (~180 righe)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Più esteso (~340 righe)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0438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953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36"/>
          <p:cNvSpPr txBox="1">
            <a:spLocks noGrp="1"/>
          </p:cNvSpPr>
          <p:nvPr>
            <p:ph type="subTitle" idx="6"/>
          </p:nvPr>
        </p:nvSpPr>
        <p:spPr>
          <a:xfrm>
            <a:off x="1141712" y="2970964"/>
            <a:ext cx="7467029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t-IT" sz="1400" dirty="0"/>
              <a:t>Entrambi implementano correttamente le meccaniche fondamentali del Campo Minato, ma:</a:t>
            </a:r>
          </a:p>
        </p:txBody>
      </p:sp>
      <p:sp>
        <p:nvSpPr>
          <p:cNvPr id="1146" name="Google Shape;114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Conclusioni</a:t>
            </a:r>
            <a:endParaRPr dirty="0"/>
          </a:p>
        </p:txBody>
      </p:sp>
      <p:sp>
        <p:nvSpPr>
          <p:cNvPr id="1147" name="Google Shape;1147;p36"/>
          <p:cNvSpPr txBox="1">
            <a:spLocks noGrp="1"/>
          </p:cNvSpPr>
          <p:nvPr>
            <p:ph type="subTitle" idx="1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Più moderno ed elegante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Codice compatto e leggibile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Ideale per dimostrare uso di CSS </a:t>
            </a:r>
            <a:r>
              <a:rPr lang="it-IT" altLang="it-IT" dirty="0" err="1">
                <a:solidFill>
                  <a:schemeClr val="tx1"/>
                </a:solidFill>
                <a:latin typeface="Arial" panose="020B0604020202020204" pitchFamily="34" charset="0"/>
              </a:rPr>
              <a:t>Grid</a:t>
            </a: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 e strutture dati semplificate</a:t>
            </a:r>
          </a:p>
        </p:txBody>
      </p:sp>
      <p:sp>
        <p:nvSpPr>
          <p:cNvPr id="1149" name="Google Shape;1149;p36"/>
          <p:cNvSpPr txBox="1">
            <a:spLocks noGrp="1"/>
          </p:cNvSpPr>
          <p:nvPr>
            <p:ph type="subTitle" idx="3"/>
          </p:nvPr>
        </p:nvSpPr>
        <p:spPr>
          <a:xfrm>
            <a:off x="2621107" y="3801961"/>
            <a:ext cx="4508239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it-IT" b="1" dirty="0"/>
              <a:t>AI privilegia semplicità e pulizia del codice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b="1" dirty="0" err="1"/>
              <a:t>Not_AI</a:t>
            </a:r>
            <a:r>
              <a:rPr lang="it-IT" b="1" dirty="0"/>
              <a:t> punta su completezza e flessibilità per l’utente</a:t>
            </a:r>
          </a:p>
        </p:txBody>
      </p:sp>
      <p:sp>
        <p:nvSpPr>
          <p:cNvPr id="1151" name="Google Shape;1151;p36"/>
          <p:cNvSpPr txBox="1">
            <a:spLocks noGrp="1"/>
          </p:cNvSpPr>
          <p:nvPr>
            <p:ph type="subTitle" idx="5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dirty="0"/>
              <a:t>Progetto AI</a:t>
            </a:r>
            <a:endParaRPr dirty="0"/>
          </a:p>
        </p:txBody>
      </p:sp>
      <p:sp>
        <p:nvSpPr>
          <p:cNvPr id="1152" name="Google Shape;1152;p36"/>
          <p:cNvSpPr txBox="1">
            <a:spLocks noGrp="1"/>
          </p:cNvSpPr>
          <p:nvPr>
            <p:ph type="subTitle" idx="7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dirty="0"/>
              <a:t>Progetto non AI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7C70D-A9B8-E8C5-AD4B-AB6A43587D78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5080000" y="2157839"/>
            <a:ext cx="29860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Più ricco di funzionalità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Maggiore controllo sul flusso di gioco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it-IT" altLang="it-IT" dirty="0">
                <a:solidFill>
                  <a:schemeClr val="tx1"/>
                </a:solidFill>
                <a:latin typeface="Arial" panose="020B0604020202020204" pitchFamily="34" charset="0"/>
              </a:rPr>
              <a:t>Offre personalizzazione e strumenti di analisi post-partita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543</Words>
  <Application>Microsoft Office PowerPoint</Application>
  <PresentationFormat>Presentazione su schermo (16:9)</PresentationFormat>
  <Paragraphs>108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7" baseType="lpstr">
      <vt:lpstr>Lato</vt:lpstr>
      <vt:lpstr>Nunito Light</vt:lpstr>
      <vt:lpstr>Courier New</vt:lpstr>
      <vt:lpstr>Epilogue</vt:lpstr>
      <vt:lpstr>Calibri</vt:lpstr>
      <vt:lpstr>Raleway</vt:lpstr>
      <vt:lpstr>Arial</vt:lpstr>
      <vt:lpstr>Multimedia Software Pitch Deck by Slidesgo</vt:lpstr>
      <vt:lpstr>Campo Minato in JavaScript</vt:lpstr>
      <vt:lpstr>OBIETTIVO DEL PROGETTO</vt:lpstr>
      <vt:lpstr>ORGANIZZAZIONE DEL LAVORO </vt:lpstr>
      <vt:lpstr>METODO 1: SVILUPPO MANUALE</vt:lpstr>
      <vt:lpstr>METODO 2: SVILUPPO CON SUPPORTO DELL’AI</vt:lpstr>
      <vt:lpstr>Analisi comparativa dei due progetti</vt:lpstr>
      <vt:lpstr>Analisi comparativa dei due progetti</vt:lpstr>
      <vt:lpstr>Differenze principali nei metodi</vt:lpstr>
      <vt:lpstr>Conclusioni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Gabriele Savii</cp:lastModifiedBy>
  <cp:revision>2</cp:revision>
  <dcterms:modified xsi:type="dcterms:W3CDTF">2026-01-21T20:26:27Z</dcterms:modified>
</cp:coreProperties>
</file>